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67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Machine Translation Transformer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English-to-French Translation with </a:t>
            </a:r>
            <a:r>
              <a:rPr lang="en-US" dirty="0" err="1"/>
              <a:t>MarianMT</a:t>
            </a:r>
            <a:r>
              <a:rPr lang="en-US" dirty="0"/>
              <a:t> Model</a:t>
            </a:r>
          </a:p>
          <a:p>
            <a:r>
              <a:rPr lang="en-US" dirty="0" smtClean="0"/>
              <a:t>Under Supervision : Eng. Mariam Mahmoud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8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95400" y="2508243"/>
            <a:ext cx="100736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Objective: Build a robust system to translate English to French with high accuracy and fluency.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Importance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Supports cross-lingual communication, global content localization, and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accessibility.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Challenge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Preserving semantics, grammar, and cultural nuances like idiomatic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expressions.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Approach: Leverage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MarianMT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model, evaluate using BLEU, ROUGE, METEOR, and token-level metrics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7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611320"/>
            <a:ext cx="975465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Goal: Accurate English-to-French translation for diverse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Applications: Multilingual customer support, e-commerce localization, educational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Difficulties: Handling idiomatic phrases, rare vocabulary, and syntactic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Focus: Achieve high performance on BLEU, ROUGE, METEOR for both simple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 sentences </a:t>
            </a:r>
          </a:p>
        </p:txBody>
      </p:sp>
    </p:spTree>
    <p:extLst>
      <p:ext uri="{BB962C8B-B14F-4D97-AF65-F5344CB8AC3E}">
        <p14:creationId xmlns:p14="http://schemas.microsoft.com/office/powerpoint/2010/main" val="277173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03826"/>
            <a:ext cx="1001267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Source: eng_-french.csv, a publicly available parallel corpus.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Size: 175,543 sentence pairs, suitable for general-purpose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Content: Daily conversations (e.g., greetings), formal texts (e.g., letters), technical docs (e.g., manuals)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Daily conversations (e.g., greetings), formal texts (e.g., letters), technical docs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manuals)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22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 - Initial Cleaning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56360" y="2643139"/>
            <a:ext cx="836675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missing values to ensure no incomplete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Renamed columns to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consistent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for duplicates and inconsistencies in sentence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Prepared data for text normalization and augmentation </a:t>
            </a:r>
          </a:p>
        </p:txBody>
      </p:sp>
    </p:spTree>
    <p:extLst>
      <p:ext uri="{BB962C8B-B14F-4D97-AF65-F5344CB8AC3E}">
        <p14:creationId xmlns:p14="http://schemas.microsoft.com/office/powerpoint/2010/main" val="20245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 - Text Normalization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36459"/>
            <a:ext cx="87706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text to lowercase to reduce vocabulary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punctuation (except hyphens, apostrophes) to focus on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Eliminated digits using regex to minimize noise in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Normalized whitespace: Removed extra spaces, ensured clean formatting. </a:t>
            </a:r>
          </a:p>
        </p:txBody>
      </p:sp>
    </p:spTree>
    <p:extLst>
      <p:ext uri="{BB962C8B-B14F-4D97-AF65-F5344CB8AC3E}">
        <p14:creationId xmlns:p14="http://schemas.microsoft.com/office/powerpoint/2010/main" val="40834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 - Data Augmentation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63981" y="2498359"/>
            <a:ext cx="83568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Augmented dataset: Duplicated 10% of data (randomly sampled with seed 42).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Subsampled to 8% (~14,043 pairs) to fit computational limits.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Augmentation goal: Increase training data diversity slightly.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Subsampling ensured faster training while maintaining representativeness. </a:t>
            </a:r>
          </a:p>
        </p:txBody>
      </p:sp>
    </p:spTree>
    <p:extLst>
      <p:ext uri="{BB962C8B-B14F-4D97-AF65-F5344CB8AC3E}">
        <p14:creationId xmlns:p14="http://schemas.microsoft.com/office/powerpoint/2010/main" val="311078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 - Splitting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66939"/>
            <a:ext cx="94981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data: 64% training (8,987 pairs), 16% validation (2,247 pairs), 20% test (2,809 pairs).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fixed seed (42) for reproducibility across experiments.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validation/test sets to 100 samples each to save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Ensured balanced representation of sentence types in splits </a:t>
            </a:r>
          </a:p>
        </p:txBody>
      </p:sp>
    </p:spTree>
    <p:extLst>
      <p:ext uri="{BB962C8B-B14F-4D97-AF65-F5344CB8AC3E}">
        <p14:creationId xmlns:p14="http://schemas.microsoft.com/office/powerpoint/2010/main" val="36577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Preprocessing - Formatting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44079"/>
            <a:ext cx="86733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data to Hugging Face Dataset format for model compatibility.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Tokenized with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MarianTokenizer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Max length 80 tokens to handle most sentences.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padding and truncation to ensure uniform input sizes.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Managed GPU memory: Freed resources after tokenization. </a:t>
            </a:r>
          </a:p>
        </p:txBody>
      </p:sp>
    </p:spTree>
    <p:extLst>
      <p:ext uri="{BB962C8B-B14F-4D97-AF65-F5344CB8AC3E}">
        <p14:creationId xmlns:p14="http://schemas.microsoft.com/office/powerpoint/2010/main" val="145560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Selection -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1" y="2521219"/>
            <a:ext cx="818387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MarianMT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(Helsinki-NLP/opus-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en-fr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transformer-based.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Pre-trained for English-to-French translation on large corpora.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Lightweight: 74 million parameters, suitable for single-GPU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for its balance of efficiency and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07493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Selection -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56361" y="2368819"/>
            <a:ext cx="77925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Architecture: Transformer with 6 encoder/decoder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Attention mechanism: Multi-head self-attention for context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Vocabulary: 60,000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tokens for English and French.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for translation tasks with pre-trained weights. </a:t>
            </a:r>
          </a:p>
        </p:txBody>
      </p:sp>
    </p:spTree>
    <p:extLst>
      <p:ext uri="{BB962C8B-B14F-4D97-AF65-F5344CB8AC3E}">
        <p14:creationId xmlns:p14="http://schemas.microsoft.com/office/powerpoint/2010/main" val="131020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Selection - Rationale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37399"/>
            <a:ext cx="80451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Pre-trained on large parallel corpora, reducing training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Achieves BLEU scores &gt; 40 on WMT benchmarks for English-French.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efficient than larger models like T5 (220M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or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mBART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(610M).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Seamlessly integrates with Hugging Face for tokenization and training. </a:t>
            </a:r>
          </a:p>
        </p:txBody>
      </p:sp>
    </p:spTree>
    <p:extLst>
      <p:ext uri="{BB962C8B-B14F-4D97-AF65-F5344CB8AC3E}">
        <p14:creationId xmlns:p14="http://schemas.microsoft.com/office/powerpoint/2010/main" val="187143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- Environment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06919"/>
            <a:ext cx="81387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Environment: Single GPU with CUDA (16GB memory).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Libraries: transformers (model), torch (training), pandas (data handling).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tools: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sacrebleu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(BLEU),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rouge_score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(ROUGE), nltk (METEOR).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Visualization: matplotlib for plotting metrics and trends. </a:t>
            </a:r>
          </a:p>
        </p:txBody>
      </p:sp>
    </p:spTree>
    <p:extLst>
      <p:ext uri="{BB962C8B-B14F-4D97-AF65-F5344CB8AC3E}">
        <p14:creationId xmlns:p14="http://schemas.microsoft.com/office/powerpoint/2010/main" val="1495383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- Optimizations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28440"/>
            <a:ext cx="81387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Mixed precision (FP16): Reduced memory usage, sped up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Gradient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checkpointing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Saved memory by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recomputing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intermediate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Gradient accumulation: 8 steps for larger effective batch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Dropout: Set to 0.5 to prevent overfitting during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8057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- Configuration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391679"/>
            <a:ext cx="70743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duration: 10 epochs to ensure convergence.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Learning rate: 2e-5 with cosine scheduler for smooth adjustments.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Warmup steps: 300 to stabilize early training phases.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Weight decay: 0.1 to regularize model parameters. </a:t>
            </a:r>
          </a:p>
        </p:txBody>
      </p:sp>
    </p:spTree>
    <p:extLst>
      <p:ext uri="{BB962C8B-B14F-4D97-AF65-F5344CB8AC3E}">
        <p14:creationId xmlns:p14="http://schemas.microsoft.com/office/powerpoint/2010/main" val="21963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- Additional Settings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17321" y="2352240"/>
            <a:ext cx="739497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stopping: Stopped if validation loss didn’t improve for 8 epochs.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Threshold for stopping: 0.005 improvement in validation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Logging: Saved metrics (loss, accuracy) every 5 steps for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model: Saved based on lowest validation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0695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Model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520" y="2506980"/>
            <a:ext cx="9044940" cy="357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7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Metrics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36459"/>
            <a:ext cx="99854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Metrics: BLEU (n-gram overlap), ROUGE (structural similarity), METEOR (semantic accuracy).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BLEU: Focuses on precision of translated phrases.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ROUGE: Measures overlap in unigrams (ROUGE-1) and longest sequences (ROUGE-L).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METEOR: Accounts for synonyms, stemming for better semantic evaluation </a:t>
            </a:r>
          </a:p>
        </p:txBody>
      </p:sp>
    </p:spTree>
    <p:extLst>
      <p:ext uri="{BB962C8B-B14F-4D97-AF65-F5344CB8AC3E}">
        <p14:creationId xmlns:p14="http://schemas.microsoft.com/office/powerpoint/2010/main" val="1836760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 - Process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51300"/>
            <a:ext cx="74847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set to evaluation mode to disable training-specific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translations: Beam search with 8 beams for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Beam search settings: Length penalty 1.2, no-repeat n-grams (size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Managed memory: Cleared GPU after each batch to avoid crashes.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665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Primary Metrics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734579"/>
            <a:ext cx="89979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BLEU Score: 53.9208, indicating strong n-gram overlap.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ROUGE-1: Precision 0.7628, Recall 0.7685, F1 0.7619 (high structural similarity).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ROUGE-L: Precision 0.7587, Recall 0.7642, F1 0.7578 (consistent longest matches).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METEOR Accuracy: 0.7063, showing good semantic fidelity. </a:t>
            </a:r>
          </a:p>
        </p:txBody>
      </p:sp>
    </p:spTree>
    <p:extLst>
      <p:ext uri="{BB962C8B-B14F-4D97-AF65-F5344CB8AC3E}">
        <p14:creationId xmlns:p14="http://schemas.microsoft.com/office/powerpoint/2010/main" val="85442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- Additional Metrics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376439"/>
            <a:ext cx="80448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Token-Level Precision: 0.7562, Recall: 0.7280 (vocabulary overlap).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Token-Level F1: 0.7418, reflecting balanced precision/recall.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Loss: 0.9986, low value indicates effective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METEOR: 0.7063 across all test samples, consistent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251597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- Loss and Accuracy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75499"/>
            <a:ext cx="762151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Plotted training and validation losses against epochs.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Losses decreased steadily, converged around epoch 8 (early stopping).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METEOR-based accuracy improved, peaked at 0.7063.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Visualization saved as loss_accuracy_visualization.png for review. </a:t>
            </a:r>
          </a:p>
        </p:txBody>
      </p:sp>
    </p:spTree>
    <p:extLst>
      <p:ext uri="{BB962C8B-B14F-4D97-AF65-F5344CB8AC3E}">
        <p14:creationId xmlns:p14="http://schemas.microsoft.com/office/powerpoint/2010/main" val="2854528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- Loss and Accuracy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540" y="2557463"/>
            <a:ext cx="7886699" cy="35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50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- Metrics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375100"/>
            <a:ext cx="65700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 plot: Compared BLEU, Accuracy, Precision, Recall,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BLEU (53.9208) highest, reflecting strong translation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loss (0.9986) low, confirming effective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Saved as metrics_visualization.png with labels and grid.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1047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- Metrics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160" y="2557463"/>
            <a:ext cx="748283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07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- Strengths &amp;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52639"/>
            <a:ext cx="960070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Strengths: High BLEU (53.9208) for common phrases, ROUGE-1 F1 (0.7619) for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Semantic accuracy: METEOR 0.7063, good for meaning preservation.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Performance: Inference time &lt; 1 second (0.5s short, 1s complex sentences).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Memory usage: &lt; 200 MB (100 MB short, 200 MB complex), scalable. </a:t>
            </a:r>
          </a:p>
        </p:txBody>
      </p:sp>
    </p:spTree>
    <p:extLst>
      <p:ext uri="{BB962C8B-B14F-4D97-AF65-F5344CB8AC3E}">
        <p14:creationId xmlns:p14="http://schemas.microsoft.com/office/powerpoint/2010/main" val="2111006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Sentences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765743"/>
            <a:ext cx="5057775" cy="26574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583680" y="2765742"/>
            <a:ext cx="49149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99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Sentences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1540" y="2606040"/>
            <a:ext cx="10287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73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9,300+ Thank You Letter Stock Illustrations, Royalty-Free Vector Graphics &amp;  Clip Art - iStock | Woman thank you letter, Thank you letter kid, Thank you  letter envelo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687" y="1303020"/>
            <a:ext cx="7942216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638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</TotalTime>
  <Words>1309</Words>
  <Application>Microsoft Office PowerPoint</Application>
  <PresentationFormat>Widescreen</PresentationFormat>
  <Paragraphs>219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Garamond</vt:lpstr>
      <vt:lpstr>Organic</vt:lpstr>
      <vt:lpstr>Machine Translation Transformer</vt:lpstr>
      <vt:lpstr>Introduction </vt:lpstr>
      <vt:lpstr>Problem Statement </vt:lpstr>
      <vt:lpstr>Dataset Overview </vt:lpstr>
      <vt:lpstr>Preprocessing - Initial Cleaning </vt:lpstr>
      <vt:lpstr>Preprocessing - Text Normalization </vt:lpstr>
      <vt:lpstr>Preprocessing - Data Augmentation </vt:lpstr>
      <vt:lpstr>Preprocessing - Splitting </vt:lpstr>
      <vt:lpstr>Preprocessing - Formatting </vt:lpstr>
      <vt:lpstr>Model Selection - Overview </vt:lpstr>
      <vt:lpstr>Model Selection - Architecture </vt:lpstr>
      <vt:lpstr>Model Selection - Rationale </vt:lpstr>
      <vt:lpstr>Implementation - Environment </vt:lpstr>
      <vt:lpstr>Implementation - Optimizations </vt:lpstr>
      <vt:lpstr>Training - Configuration </vt:lpstr>
      <vt:lpstr>Training - Additional Settings </vt:lpstr>
      <vt:lpstr>Training Model</vt:lpstr>
      <vt:lpstr>Metrics Overview </vt:lpstr>
      <vt:lpstr>Evaluation - Process </vt:lpstr>
      <vt:lpstr>Primary Metrics </vt:lpstr>
      <vt:lpstr>Results - Additional Metrics </vt:lpstr>
      <vt:lpstr>Visualizations - Loss and Accuracy </vt:lpstr>
      <vt:lpstr>Visualizations - Loss and Accuracy </vt:lpstr>
      <vt:lpstr>Visualizations - Metrics </vt:lpstr>
      <vt:lpstr>Visualizations - Metrics </vt:lpstr>
      <vt:lpstr>Analysis - Strengths &amp; Performance </vt:lpstr>
      <vt:lpstr>Testing Sentences</vt:lpstr>
      <vt:lpstr>Testing Sentences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Translation Transformer</dc:title>
  <dc:creator>Ahmed Elnemr</dc:creator>
  <cp:lastModifiedBy>Ahmed Elnemr</cp:lastModifiedBy>
  <cp:revision>6</cp:revision>
  <dcterms:created xsi:type="dcterms:W3CDTF">2025-05-03T01:41:19Z</dcterms:created>
  <dcterms:modified xsi:type="dcterms:W3CDTF">2025-05-03T02:44:17Z</dcterms:modified>
</cp:coreProperties>
</file>